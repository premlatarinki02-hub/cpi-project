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1F5F9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1F5F9"/>
                </a:solidFill>
                <a:latin typeface="Arial"/>
              </a:rPr>
              <a:t>YoY CPI inflation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rgbClr val="38BDF8"/>
            </a:solidFill>
            <a:ln w="3810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6.8</c:v>
                </c:pt>
                <c:pt idx="1">
                  <c:v>5.4</c:v>
                </c:pt>
                <c:pt idx="2">
                  <c:v>5.6</c:v>
                </c:pt>
                <c:pt idx="3">
                  <c:v>3.3</c:v>
                </c:pt>
                <c:pt idx="4">
                  <c:v>3.8</c:v>
                </c:pt>
                <c:pt idx="5">
                  <c:v>3.2</c:v>
                </c:pt>
                <c:pt idx="6">
                  <c:v>6.5</c:v>
                </c:pt>
                <c:pt idx="7">
                  <c:v>4.8</c:v>
                </c:pt>
                <c:pt idx="8">
                  <c:v>6.8</c:v>
                </c:pt>
                <c:pt idx="9">
                  <c:v>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Urban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2014</c:v>
                  </c:pt>
                  <c:pt idx="1">
                    <c:v>2015</c:v>
                  </c:pt>
                  <c:pt idx="2">
                    <c:v>2016</c:v>
                  </c:pt>
                  <c:pt idx="3">
                    <c:v>2017</c:v>
                  </c:pt>
                  <c:pt idx="4">
                    <c:v>2018</c:v>
                  </c:pt>
                  <c:pt idx="5">
                    <c:v>2019</c:v>
                  </c:pt>
                  <c:pt idx="6">
                    <c:v>2020</c:v>
                  </c:pt>
                  <c:pt idx="7">
                    <c:v>2021</c:v>
                  </c:pt>
                  <c:pt idx="8">
                    <c:v>2022</c:v>
                  </c:pt>
                  <c:pt idx="9">
                    <c:v>2023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6.5</c:v>
                </c:pt>
                <c:pt idx="1">
                  <c:v>4.2</c:v>
                </c:pt>
                <c:pt idx="2">
                  <c:v>4.2</c:v>
                </c:pt>
                <c:pt idx="3">
                  <c:v>3.3</c:v>
                </c:pt>
                <c:pt idx="4">
                  <c:v>4.2</c:v>
                </c:pt>
                <c:pt idx="5">
                  <c:v>4.8</c:v>
                </c:pt>
                <c:pt idx="6">
                  <c:v>6.3</c:v>
                </c:pt>
                <c:pt idx="7">
                  <c:v>5.7</c:v>
                </c:pt>
                <c:pt idx="8">
                  <c:v>6.3</c:v>
                </c:pt>
                <c:pt idx="9">
                  <c:v>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1F5F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</a:rPr>
              <a:t>CPI Project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Consumer Price Index analysis, 2013-2023: food, COVID and crude oil effects, using the 7 steps of data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11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workbook sheets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3840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27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CPI categories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840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sectors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0" y="38404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7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analysis steps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Source file: CPI_PROJECT_UPDATED.xlsx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1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Define the Objective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Ask the business question first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Understand how consumer prices changed in India, 2013-2023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Which category contributes most to CPI?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How did inflation trend year over year, rural vs urban?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How did COVID and crude oil prices affect inflation?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QUESTIONS ANSWERED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5 analyses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8404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Contribution, YoY trend, MoM food trend, COVID effect, fuel link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CPI Project  |  7 Steps of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2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Collect the Data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Gather the raw sources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Monthly CPI index by sector: Rural, Urban, Rural+Urban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27 index columns, from single items to the General index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Crude oil import prices (Indian Basket) for the fuel analysis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RAW DATA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372 rows x 30 columns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8404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RAW DATA sheet: sector, year, month and 27 CPI indices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CPI Project  |  7 Steps of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3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Clean the Data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Make the data trustworthy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Deleted NA rows where missing values were under 5%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Housing: NA set to Null, then filled down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Built a Year_Month date column; sorted by sector, year, month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Added Total CPI by summing the unique categories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ROWS KEPT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366 of 372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8404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Main DataSet is the cleaned copy of RAW DATA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CPI Project  |  7 Steps of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4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Prepare and Model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Structure the data for analysis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Mapped 27 categories into broader buckets (Food, Housing, Health...)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Reshaped to long format: category, CPI value, bucket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Defined formulas: contribution, monthly and annual inflation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Annual rate = (end CPI - start CPI) / start CPI x 100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MAPPING TABLE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9,882 rows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8404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366 rows x 27 categories, grouped into 13 buckets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CPI Project  |  7 Steps of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5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5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Analyze the Data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Answer each question with numbers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YoY: Rural+Urban inflation peaked near 6.6% in 2014 and 2022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Jun-22 to May-23: Spices +16.5%, Cereals +12.1%, Oils and fats -15.4%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Vegetables fell 12.7% MoM in Dec-22; fruits rose 7.1% in Feb-23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Crude oil correlation: Meat and fish 0.78, Oils and fats 0.77, Transport 0.75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BIGGEST MOVER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Spices +16.5%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8404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Highest inflation among food items, Jun-22 to May-23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CPI Project  |  7 Steps of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6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6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Visualize the Results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Pick the right chart for each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One chart per question, built from pivot tables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12 charts across the analysis sheets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DASHBOARD sheet brings 6 charts together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Chart: Rural inflation led in 2014 and 2022; Urban led in 2018-19 and 2021</a:t>
            </a:r>
            <a:endParaRPr lang="en-US" sz="17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92240" y="210312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CPI Project  |  7 Steps of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7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STEP 7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822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</a:rPr>
              <a:t>Share Insights and Act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Communicate findings and next steps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Food is the largest bucket (44% of mapped categories), so food prices drive CPI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After COVID, food inflation hit 8.4% in 2020 vs 1.6-4.2% in 2017-19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Fuel and light, Transport and Food track crude oil (0.66-0.75)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</a:rPr>
              <a:t>Recommendation: monitor spices, cereals, vegetables and crude oil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75120" y="2286000"/>
            <a:ext cx="493776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4944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KEY TAKEAWAY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</a:rPr>
              <a:t>Food and oil prices matter most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38404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Largest CPI bucket and strongest links to price swings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CPI Project  |  7 Steps of Data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CPI Project</dc:title>
  <dc:subject>PptxGenJS Presentation</dc:subject>
  <dc:creator>PptxGenJS</dc:creator>
  <cp:lastModifiedBy>PptxGenJS</cp:lastModifiedBy>
  <cp:revision>1</cp:revision>
  <dcterms:created xsi:type="dcterms:W3CDTF">2026-10-03T15:44:19Z</dcterms:created>
  <dcterms:modified xsi:type="dcterms:W3CDTF">2026-10-03T15:44:19Z</dcterms:modified>
</cp:coreProperties>
</file>